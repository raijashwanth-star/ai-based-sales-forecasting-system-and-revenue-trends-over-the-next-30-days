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Raleway" pitchFamily="2" charset="77"/>
      <p:regular r:id="rId13"/>
      <p:bold r:id="rId14"/>
      <p:italic r:id="rId15"/>
      <p:boldItalic r:id="rId16"/>
    </p:embeddedFont>
    <p:embeddedFont>
      <p:font typeface="Raleway Light"/>
      <p:regular r:id="rId17"/>
      <p:italic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  <p:embeddedFont>
      <p:font typeface="Roboto Bold" panose="02000000000000000000" pitchFamily="2" charset="0"/>
      <p:regular r:id="rId23"/>
      <p:bold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2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8713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54535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AI-Based Sales Forecasting System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4010124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Predicting Product Demand and Revenue Trends Over the Next 30 Days</a:t>
            </a:r>
            <a:endParaRPr lang="en-US" sz="14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53D3C0-062F-2346-AA6C-0E3F9C319B82}"/>
              </a:ext>
            </a:extLst>
          </p:cNvPr>
          <p:cNvSpPr txBox="1"/>
          <p:nvPr/>
        </p:nvSpPr>
        <p:spPr>
          <a:xfrm>
            <a:off x="661475" y="5584371"/>
            <a:ext cx="19850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Mr.RAYI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 JASHWANTH</a:t>
            </a:r>
            <a:b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324129510049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69516"/>
            <a:ext cx="6296860" cy="959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Problem: Traditional Forecasting Limitations</a:t>
            </a:r>
            <a:endParaRPr lang="en-US" sz="3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716484"/>
            <a:ext cx="6296860" cy="110509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0210" y="1889026"/>
            <a:ext cx="587558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Time-Consuming &amp; Error-Prone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910210" y="2203748"/>
            <a:ext cx="5875587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Manual analysis of historical sales reports introduces delays and human error into critical business decisions.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946301"/>
            <a:ext cx="6296860" cy="110509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10210" y="3118842"/>
            <a:ext cx="587558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Unpredictable Market Conditions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910210" y="3433564"/>
            <a:ext cx="5875587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methods struggle to adapt when demand shifts due to changing market dynamics.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176117"/>
            <a:ext cx="6296860" cy="110509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0210" y="4348659"/>
            <a:ext cx="587558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Too Many Variables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910210" y="4663380"/>
            <a:ext cx="5875587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Simultaneously accounting for seasonal trends, promotions, pricing, holidays, and customer behavior is beyond manual capacity.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5405934"/>
            <a:ext cx="6296860" cy="88245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10210" y="5578475"/>
            <a:ext cx="5875587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Limited Scalability</a:t>
            </a:r>
            <a:endParaRPr lang="en-US" sz="1500" dirty="0"/>
          </a:p>
        </p:txBody>
      </p:sp>
      <p:sp>
        <p:nvSpPr>
          <p:cNvPr id="15" name="Text 8"/>
          <p:cNvSpPr/>
          <p:nvPr/>
        </p:nvSpPr>
        <p:spPr>
          <a:xfrm>
            <a:off x="910210" y="5893197"/>
            <a:ext cx="5875587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Conventional approaches break down when applied to large, growing sales datasets.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746125"/>
            <a:ext cx="6913390" cy="39176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13400" y="1527175"/>
            <a:ext cx="3523070" cy="110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This Matters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8013400" y="2800747"/>
            <a:ext cx="3523070" cy="1098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Accurate sales forecasting is the backbone of effective inventory management and production planning. When forecasts fail, the consequences are immediate and costly.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226214" y="5098256"/>
            <a:ext cx="291973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Stockouts &amp; Overstock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226214" y="5474791"/>
            <a:ext cx="2919736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Poor forecasts lead directly to lost sales or excess inventory that ties up capital.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18349" y="5098256"/>
            <a:ext cx="291973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Lost Revenue Opportunities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918349" y="5474791"/>
            <a:ext cx="2919736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Businesses miss peak demand windows without reliable forward-looking intelligence.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10484" y="5098256"/>
            <a:ext cx="2919736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Need for Intelligence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610484" y="5474791"/>
            <a:ext cx="2919736" cy="823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Organizations require systems that learn from historical data to estimate future demand with high accuracy.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986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Proposed Solution: System Overview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658541"/>
            <a:ext cx="5339820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6832" y="1853902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800" y="2009775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6832" y="2609949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Centralized AI Platform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3018631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unified system that ingests and analyzes historical sales data from across the organization.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190301" y="1658541"/>
            <a:ext cx="5339919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85658" y="1853902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1626" y="2009775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85658" y="2609949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ML + Time-Series Models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6385658" y="3018631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Combines machine learning regression with time-series forecasting for robust predictive power.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661475" y="4007842"/>
            <a:ext cx="5339820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56832" y="4203204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2800" y="4359077"/>
            <a:ext cx="255085" cy="2550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6832" y="4959251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30-Day Forecasting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56832" y="5367933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Predicts product demand and revenue trends across a rolling 30-day horizon.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190301" y="4007842"/>
            <a:ext cx="5339919" cy="2160290"/>
          </a:xfrm>
          <a:prstGeom prst="roundRect">
            <a:avLst>
              <a:gd name="adj" fmla="val 367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385658" y="4203204"/>
            <a:ext cx="567021" cy="567035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41626" y="4359077"/>
            <a:ext cx="255085" cy="2550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85658" y="4959251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Interactive Dashboards</a:t>
            </a:r>
            <a:endParaRPr lang="en-US" sz="1850" dirty="0"/>
          </a:p>
        </p:txBody>
      </p:sp>
      <p:sp>
        <p:nvSpPr>
          <p:cNvPr id="22" name="Text 16"/>
          <p:cNvSpPr/>
          <p:nvPr/>
        </p:nvSpPr>
        <p:spPr>
          <a:xfrm>
            <a:off x="6385658" y="5367933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Product-wise analytics and business performance reports delivered through intuitive visual interfaces.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Architecture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0699" y="909538"/>
            <a:ext cx="7330296" cy="55099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24449" y="3549692"/>
            <a:ext cx="1336850" cy="611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Forecasting Pipeline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424289" y="4932599"/>
            <a:ext cx="1988802" cy="305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Processing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424289" y="5325240"/>
            <a:ext cx="1988802" cy="550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cleaning, feature engineering, ML and time-series modeling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761618" y="4840892"/>
            <a:ext cx="1988802" cy="305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Output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2761618" y="5233533"/>
            <a:ext cx="1988802" cy="733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30-day demand forecasts, revenue trends, product analytics, dashboards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65782" y="1226960"/>
            <a:ext cx="2043145" cy="305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Input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5065782" y="1619601"/>
            <a:ext cx="2043145" cy="733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Historical sales, pricing, promotions, seasonality, holidays, customer behavior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61475" y="6472535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follows a structured end-to-end pipeline — from raw data ingestion through intelligent processing to actionable 30-day forecasts and interactive business insights.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62868"/>
            <a:ext cx="6296860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Technical Components</a:t>
            </a:r>
            <a:endParaRPr lang="en-US" sz="31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263055"/>
            <a:ext cx="6296860" cy="1157089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675" y="1721941"/>
            <a:ext cx="239210" cy="239216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452923" y="1441549"/>
            <a:ext cx="532692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Python-Based Analytics</a:t>
            </a:r>
            <a:endParaRPr lang="en-US" sz="1550" dirty="0"/>
          </a:p>
        </p:txBody>
      </p:sp>
      <p:sp>
        <p:nvSpPr>
          <p:cNvPr id="7" name="Text 2"/>
          <p:cNvSpPr/>
          <p:nvPr/>
        </p:nvSpPr>
        <p:spPr>
          <a:xfrm>
            <a:off x="1452923" y="1771352"/>
            <a:ext cx="532692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data processing and exploratory analysis powered by Python's scientific computing ecosystem.</a:t>
            </a:r>
            <a:endParaRPr lang="en-US" sz="12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554684"/>
            <a:ext cx="6296860" cy="1157089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6675" y="3013571"/>
            <a:ext cx="239210" cy="239216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1452923" y="2733179"/>
            <a:ext cx="532692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ML Regression Models</a:t>
            </a:r>
            <a:endParaRPr lang="en-US" sz="1550" dirty="0"/>
          </a:p>
        </p:txBody>
      </p:sp>
      <p:sp>
        <p:nvSpPr>
          <p:cNvPr id="11" name="Text 4"/>
          <p:cNvSpPr/>
          <p:nvPr/>
        </p:nvSpPr>
        <p:spPr>
          <a:xfrm>
            <a:off x="1452923" y="3062982"/>
            <a:ext cx="532692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Learns complex relationships between sales-influencing factors and future demand outcomes.</a:t>
            </a:r>
            <a:endParaRPr lang="en-US" sz="125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846314"/>
            <a:ext cx="6296860" cy="1157089"/>
          </a:xfrm>
          <a:prstGeom prst="rect">
            <a:avLst/>
          </a:prstGeom>
        </p:spPr>
      </p:pic>
      <p:pic>
        <p:nvPicPr>
          <p:cNvPr id="1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6675" y="4305201"/>
            <a:ext cx="239210" cy="239216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1452923" y="4024809"/>
            <a:ext cx="532692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Time-Series Forecasting</a:t>
            </a:r>
            <a:endParaRPr lang="en-US" sz="1550" dirty="0"/>
          </a:p>
        </p:txBody>
      </p:sp>
      <p:sp>
        <p:nvSpPr>
          <p:cNvPr id="15" name="Text 6"/>
          <p:cNvSpPr/>
          <p:nvPr/>
        </p:nvSpPr>
        <p:spPr>
          <a:xfrm>
            <a:off x="1452923" y="4354612"/>
            <a:ext cx="532692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Analyzes chronological sales patterns to project future trends with temporal awareness.</a:t>
            </a:r>
            <a:endParaRPr lang="en-US" sz="125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137944"/>
            <a:ext cx="6296860" cy="1157089"/>
          </a:xfrm>
          <a:prstGeom prst="rect">
            <a:avLst/>
          </a:prstGeom>
        </p:spPr>
      </p:pic>
      <p:pic>
        <p:nvPicPr>
          <p:cNvPr id="17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6675" y="5596830"/>
            <a:ext cx="239210" cy="239216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1452923" y="5316438"/>
            <a:ext cx="532692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Interactive Dashboard</a:t>
            </a:r>
            <a:endParaRPr lang="en-US" sz="1550" dirty="0"/>
          </a:p>
        </p:txBody>
      </p:sp>
      <p:sp>
        <p:nvSpPr>
          <p:cNvPr id="19" name="Text 8"/>
          <p:cNvSpPr/>
          <p:nvPr/>
        </p:nvSpPr>
        <p:spPr>
          <a:xfrm>
            <a:off x="1452923" y="5646241"/>
            <a:ext cx="532692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Visualizes forecasts and business insights in a user-friendly, actionable interface.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0261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Forecasting Process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71291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367161"/>
            <a:ext cx="3496877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2512417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Analyze Historical Patterns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2921099"/>
            <a:ext cx="349687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Examine past sales records to identify underlying trends and recurring behaviors.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347359" y="2071291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7359" y="2367161"/>
            <a:ext cx="3496877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9" name="Text 7"/>
          <p:cNvSpPr/>
          <p:nvPr/>
        </p:nvSpPr>
        <p:spPr>
          <a:xfrm>
            <a:off x="4347359" y="2512417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Identify Key Influencing Factors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347359" y="2921099"/>
            <a:ext cx="349687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Isolate the effects of seasonal cycles, promotions, pricing changes, and customer behavior on demand.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33244" y="2071291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33244" y="2367161"/>
            <a:ext cx="3496877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3" name="Text 11"/>
          <p:cNvSpPr/>
          <p:nvPr/>
        </p:nvSpPr>
        <p:spPr>
          <a:xfrm>
            <a:off x="8033244" y="2512417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Train Predictive Models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033244" y="2921099"/>
            <a:ext cx="349687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Fit ML regression and time-series models on preprocessed, feature-engineered data.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415905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61475" y="4454922"/>
            <a:ext cx="5339820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7" name="Text 15"/>
          <p:cNvSpPr/>
          <p:nvPr/>
        </p:nvSpPr>
        <p:spPr>
          <a:xfrm>
            <a:off x="661475" y="4600178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Evaluate Model Performance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61475" y="5008860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Assess model quality using appropriate validation techniques before deployment.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190301" y="4159052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190301" y="4454922"/>
            <a:ext cx="5339820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1" name="Text 19"/>
          <p:cNvSpPr/>
          <p:nvPr/>
        </p:nvSpPr>
        <p:spPr>
          <a:xfrm>
            <a:off x="6190301" y="4600178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Generate 30-Day Predictions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6190301" y="5008860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Produce demand and revenue forecasts for the upcoming 30-day window, ready for business use.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6312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Business Applications &amp; Benefits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31802"/>
            <a:ext cx="2009923" cy="124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51026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Retail &amp; E-Commerce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918942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Optimize inventory levels and reduce costly stockouts during peak demand periods.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2031802"/>
            <a:ext cx="2009923" cy="12422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51026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Manufacturing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3918942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 production scheduling and allocate resources more efficiently based on predicted demand.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2031802"/>
            <a:ext cx="2009923" cy="12422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510260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Wholesale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3918942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Anticipate demand fluctuations and strengthen revenue planning across distribution channels.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661475" y="5038824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E1E1EA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482" y="5306516"/>
            <a:ext cx="236234" cy="1890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75723" y="5275064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Enables data-driven decision-making across businesses of all sizes — from growing startups to large enterprises.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38027"/>
            <a:ext cx="3583989" cy="867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Expected Outcomes &amp; Advantages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1475" y="2807494"/>
            <a:ext cx="3583989" cy="577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AI-Based Sales Forecasting System is designed to deliver measurable improvements across the entire demand planning lifecycle.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0340" y="638473"/>
            <a:ext cx="6946131" cy="3936206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464" y="4808190"/>
            <a:ext cx="208156" cy="20816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12512" y="4803874"/>
            <a:ext cx="4919639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Improved Forecast Accuracy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1112512" y="5081885"/>
            <a:ext cx="4919639" cy="192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More reliable demand and revenue predictions compared to manual methods.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1534" y="4808190"/>
            <a:ext cx="208156" cy="20816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610581" y="4803874"/>
            <a:ext cx="4919639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Better Planning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6610581" y="5081885"/>
            <a:ext cx="4919639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Stronger inventory management and production scheduling aligned to predicted demand.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3464" y="5675164"/>
            <a:ext cx="208156" cy="20816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12512" y="5670848"/>
            <a:ext cx="4919639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Reduced Manual Dependency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1112512" y="5948859"/>
            <a:ext cx="4919639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Automated intelligence replaces time-intensive manual sales analysis workflows.</a:t>
            </a:r>
            <a:endParaRPr lang="en-US" sz="10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1534" y="5675164"/>
            <a:ext cx="208156" cy="20816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610581" y="5670848"/>
            <a:ext cx="4919639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Scalable &amp; Centralized</a:t>
            </a:r>
            <a:endParaRPr lang="en-US" sz="1350" dirty="0"/>
          </a:p>
        </p:txBody>
      </p:sp>
      <p:sp>
        <p:nvSpPr>
          <p:cNvPr id="16" name="Text 9"/>
          <p:cNvSpPr/>
          <p:nvPr/>
        </p:nvSpPr>
        <p:spPr>
          <a:xfrm>
            <a:off x="6610581" y="5948859"/>
            <a:ext cx="4919639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unified platform that grows with the business and delivers product-wise strategic insights.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20204"/>
            <a:ext cx="6296860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661475" y="1203722"/>
            <a:ext cx="6296860" cy="1519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spcAft>
                <a:spcPts val="1100"/>
              </a:spcAft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AI-Based Sales Forecasting System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combines Python analytics, machine learning, and time-series forecasting to deliver intelligent 30-day demand and revenue predictions.</a:t>
            </a:r>
            <a:endParaRPr lang="en-US" sz="12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analyzing historical sales alongside seasonal trends, promotions, pricing, holidays, and customer behavior, the system enables organizations to </a:t>
            </a: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optimize inventory planning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improve revenue forecasting</a:t>
            </a: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and support data-driven business growth across retail, e-commerce, manufacturing, and wholesale sectors.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61475" y="2868613"/>
            <a:ext cx="6296860" cy="3469084"/>
          </a:xfrm>
          <a:prstGeom prst="roundRect">
            <a:avLst>
              <a:gd name="adj" fmla="val 189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7825" y="2874963"/>
            <a:ext cx="6284160" cy="864096"/>
          </a:xfrm>
          <a:custGeom>
            <a:avLst/>
            <a:gdLst/>
            <a:ahLst/>
            <a:cxnLst/>
            <a:rect l="l" t="t" r="r" b="b"/>
            <a:pathLst>
              <a:path w="6284160" h="864096">
                <a:moveTo>
                  <a:pt x="54786" y="0"/>
                </a:moveTo>
                <a:lnTo>
                  <a:pt x="6229374" y="0"/>
                </a:lnTo>
                <a:arcTo wR="54786" hR="54787" stAng="16200000" swAng="5400000"/>
                <a:lnTo>
                  <a:pt x="6284160" y="864096"/>
                </a:lnTo>
                <a:lnTo>
                  <a:pt x="0" y="864096"/>
                </a:lnTo>
                <a:lnTo>
                  <a:pt x="0" y="54787"/>
                </a:lnTo>
                <a:arcTo wR="54786" hR="54787" stAng="10800000" swAng="5400000"/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7" name="Text 4"/>
          <p:cNvSpPr/>
          <p:nvPr/>
        </p:nvSpPr>
        <p:spPr>
          <a:xfrm>
            <a:off x="824289" y="3031430"/>
            <a:ext cx="597123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Python Analytics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4289" y="3353693"/>
            <a:ext cx="5971232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Scientific computing core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67825" y="3739059"/>
            <a:ext cx="6284160" cy="864096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10" name="Shape 7"/>
          <p:cNvSpPr/>
          <p:nvPr/>
        </p:nvSpPr>
        <p:spPr>
          <a:xfrm>
            <a:off x="667825" y="3739059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1" name="Text 8"/>
          <p:cNvSpPr/>
          <p:nvPr/>
        </p:nvSpPr>
        <p:spPr>
          <a:xfrm>
            <a:off x="824289" y="3895527"/>
            <a:ext cx="597123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ML Regression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24289" y="4217789"/>
            <a:ext cx="5971232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Demand relationship modeling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67825" y="4603155"/>
            <a:ext cx="6284160" cy="864096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14" name="Shape 11"/>
          <p:cNvSpPr/>
          <p:nvPr/>
        </p:nvSpPr>
        <p:spPr>
          <a:xfrm>
            <a:off x="667825" y="4603155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5" name="Text 12"/>
          <p:cNvSpPr/>
          <p:nvPr/>
        </p:nvSpPr>
        <p:spPr>
          <a:xfrm>
            <a:off x="824289" y="4759623"/>
            <a:ext cx="597123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Time-Series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24289" y="5081885"/>
            <a:ext cx="5971232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Chronological pattern analysis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67825" y="5467251"/>
            <a:ext cx="6284160" cy="864096"/>
          </a:xfrm>
          <a:custGeom>
            <a:avLst/>
            <a:gdLst/>
            <a:ahLst/>
            <a:cxnLst/>
            <a:rect l="l" t="t" r="r" b="b"/>
            <a:pathLst>
              <a:path w="6284160" h="864096">
                <a:moveTo>
                  <a:pt x="0" y="0"/>
                </a:moveTo>
                <a:lnTo>
                  <a:pt x="6284160" y="0"/>
                </a:lnTo>
                <a:lnTo>
                  <a:pt x="6284160" y="809309"/>
                </a:lnTo>
                <a:arcTo wR="54786" hR="54787" stAng="0" swAng="5400000"/>
                <a:lnTo>
                  <a:pt x="54786" y="864096"/>
                </a:lnTo>
                <a:arcTo wR="54786" hR="54787" stAng="5400000" swAng="5400000"/>
                <a:lnTo>
                  <a:pt x="0" y="0"/>
                </a:lnTo>
                <a:close/>
              </a:path>
            </a:pathLst>
          </a:custGeom>
          <a:solidFill>
            <a:srgbClr val="E1E1EA"/>
          </a:solidFill>
          <a:ln/>
        </p:spPr>
      </p:sp>
      <p:sp>
        <p:nvSpPr>
          <p:cNvPr id="18" name="Shape 15"/>
          <p:cNvSpPr/>
          <p:nvPr/>
        </p:nvSpPr>
        <p:spPr>
          <a:xfrm>
            <a:off x="667825" y="5467251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7C7D0"/>
          </a:solidFill>
          <a:ln/>
        </p:spPr>
      </p:sp>
      <p:sp>
        <p:nvSpPr>
          <p:cNvPr id="19" name="Text 16"/>
          <p:cNvSpPr/>
          <p:nvPr/>
        </p:nvSpPr>
        <p:spPr>
          <a:xfrm>
            <a:off x="824289" y="5623719"/>
            <a:ext cx="597123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30-Day Forecast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24289" y="5945981"/>
            <a:ext cx="5971232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Actionable business intelligence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703</Words>
  <Application>Microsoft Macintosh PowerPoint</Application>
  <PresentationFormat>Widescreen</PresentationFormat>
  <Paragraphs>102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Times New Roman</vt:lpstr>
      <vt:lpstr>Roboto Bold</vt:lpstr>
      <vt:lpstr>Arial</vt:lpstr>
      <vt:lpstr>Roboto</vt:lpstr>
      <vt:lpstr>Raleway</vt:lpstr>
      <vt:lpstr>Raleway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Lalam githa vamsiram</cp:lastModifiedBy>
  <cp:revision>5</cp:revision>
  <dcterms:created xsi:type="dcterms:W3CDTF">2026-08-19T04:59:48Z</dcterms:created>
  <dcterms:modified xsi:type="dcterms:W3CDTF">2026-08-31T08:32:50Z</dcterms:modified>
</cp:coreProperties>
</file>